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qd-photon-sim, branch rt-edge-emitter. This is a computational design study produced by the simulator's own pipeline and acceptance sweep; no author or institution is claimed beyond the repository itself. Every number quoted later in this deck traces to a real file the repository generated (verdict.md, sweep.csv) or to a live call into the simulator's physics modules made while building this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Self-assembled quantum dots form during epitaxial crystal growth (Stranski-Krastanov growth: a thin strained layer of one semiconductor spontaneously balls up into nanometre-scale islands on top of another). Because the dot material has a smaller electronic band gap than the crystal around it, an electron and a hole that wander into the dot get trapped there, just as an electron is trapped around a nucleus in a real atom -- hence 'artificial atom'. When the trapped electron and hole recombine they give up their energy as one photon.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quantum key distribution, security depends on each pulse carrying at most one photon: if a pulse ever contains two photons, an eavesdropper can silently siphon off the extra one without being detected, breaking the security proof. The standard way to measure how close a source comes to 'exactly one photon' is the second-order correlation function g2(0): a perfect single-photon source gives g2(0) = 0, while an ordinary lamp (many photons, uncorrelated) gives g2(0) = 1. This design study's target is g2(0) &lt; 0.5, the usual working definition of 'single-photon' behaviour.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Essentially all published single-photon quantum dots operate in a liquid-helium cryostat (4-80 K) and are excited optically by a separate pump laser tuned onto the dot. A source that instead runs at room temperature (300 K) and is turned on and off with an ordinary p-i-n diode current -- the same physics as an LED -- removes both the cryostat and the laser, which is what would actually make a single-photon source practical to deploy outside a physics 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vertical single-photon sources in the literature (micropillars, DBR cavities, resonant-cavity LEDs) collect light out of the top surface, which suits a free-space detector but not a photonic circuit. An edge-emitting, in-plane design instead guides the light sideways through a ridge waveguide etched into the chip, so it can be coupled directly into an on-chip waveguide network or into an optical fibre butted against the cleaved facet -- the geometry a real photonic-integrated single-photon source would need.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qd-photon-sim is a simulator: given a 'design card' describing a dot, its host materials, the drive electronics and the output waveguide, it predicts the single-photon purity g2(0), the collected brightness, and the temperature/current window over which the design would work -- all built up from published material constants (lattice constants, band gaps, effective masses, linewidths) rather than tuned to produce a desired answer. A companion module (verify/verify_rt_edge_papers.py) independently re-checks every cited literature number for unit errors, out-of-range values, and duplicated or unsourced citations; the current evidence ledger passes 14/16 such checks.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(1) materials.py supplies band gaps, lattice constants and band offsets from Vurgaftman et al., J. Appl. Phys. 89, 5815 (2001); (2) dot_levels.py solves the confined electron/hole levels of the actual dot-in-a-well-in-a-barrier stack; (3) transport.py models the p-i-n diode's current-voltage behaviour and carrier injection into the dot; (4) thermal.py self-consistently raises the junction temperature under drive; (5) linewidth.py gives the exciton/biexciton linewidths at that temperature; (6) the spectral overlap between exciton and biexciton lines sets how much biexciton light leaks through a filter tuned to the exciton; (7) waveguide.py computes how much light the edge waveguide collects; (8) cw_g2.py / the device evaluator combine all of this into g2(0) and brightness. Every number in the chain carries a provenance tag ([V] verified against a cited paper, [DR] derived, [E] class estimate, [A] assumption, per CLAUDE.md's conventions), and the acceptance sweep varies the tagged-uncertain inputs over their literature-supported ranges rather than picking one value.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band diagram is drawn from a live call to fsim_core.dot_levels.levels() on the simulator's own 'InP/GaAsP0.4/AlGaAs0.4 on GaAs' design-card class: a 4 nm InP dot in a GaAs0.6P0.4 well gives an electron confinement V_e = 200 meV and a hole confinement V_h = 94 meV (band offsets from materials.offsets, Vurgaftman et al. 2001 model-solid theory); the bound levels sit E_e = 97 meV and E_h = 31 meV inside those wells, giving an exciton transition energy E_X = 1.520 eV (816 nm). This is dot_levels.py's separable-disk model, honestly documented as accurate to tens of meV for this geometry class, not a full k.p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starting brief asked for 'InP cladding, GaAsP active region'. Checked against the materials database this is physically inverted: InP's 300 K band gap is 1.35 eV versus GaAs0.6P0.4's 1.92 eV (fsim_core.materials.bandgap), so InP is the narrower-gap material and cannot act as a confining cladding around a wider-gap GaAsP active layer -- the carriers would collect in the InP, not the GaAsP. Separately, GaAsP is 5.3% lattice-mismatched to InP (fsim_core.materials.mismatch, Vurgaftman et al. 2001 lattice constants), too large to grow a coherent strained layer of useful thickness. ../_goal/materials_research.md documents both problems and identifies the platform that does exist in the literature: InP self-assembled quantum dots grown inside a GaAs1-xPx quantum well, clad by (Al,Ga)InP or AlGaAs, emitting in the 660-755 nm range depending on composition (Gu et al., Optics Express 33, 23732 (2025), HKUST class; Reischle et al., Optics Express 16, 12771 (2008), Stuttgart InP/GaInP class). This design study uses that platform -- dot and matrix swapped relative to the literal brief -- as both its primary (GaAsP-well) and fallback (GaInP-well) design cards.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driving replaces the pump laser used by almost every other single-photon quantum-dot demonstration. fsim_core.transport.hkust_preset() builds the actual p-i-n stack used here: Al0.40Ga0.60As p- and n-claddings around a 148 nm intrinsic region, with the GaAs0.60P0.40 active layer (8 nm) at its centre, following Gu et al.'s (Optics Express 33, 23732, 2025) own electrically pumped device. Forward bias tilts the bands so electrons flow in from the n-side and holes from the p-side and both are captured by the dot in the middle. At the single-dot-scale drive current this design uses (I = 1.0 nA), fsim_core.transport's own I-V solver puts the junction voltage at V_j ≈ 1.28 V at 300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Filtering out only the exciton (single-pair) line and rejecting the biexciton (two-pair) line is how a quantum dot is made to emit one photon at a time: if the two lines are spectrally distinct, a narrow filter passes X and blocks XX. fsim_core.linewidth.py's literature-anchored model (Matsuda et al., Phys. Rev. B 63, 121304(R) (2001); Laferriere et al., Nano Letters 23, 962 (2023); Chatzarakis et al., Phys. Rev. Applied 20, 034011 (2023)) gives Γ(4 K) ≈ 0.26 meV, far narrower than the X-XX splitting; but Γ(300 K) is anchored to a 6-20 meV class range (no InP/GaAsP single-dot 300 K linewidth has ever been published), which is comparable to or larger than the 3-7 meV X-XX splittings seen across the InP-dot literature (Reischle et al. 2008; Bommer et al., J. Appl. Phys. 110, 063108 (2011)). At 300 K the two lines overlap for essentially every published dot -- this is the quantitative reason every 300 K single-photon result in the literature saturates near g2 ≈ 0.5.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fsim_core.waveguide.py solves the actual guided optical mode of the ridge stack (an (Al,Ga)InP core around the GaAsP well, on a GaAs substrate) with a scalar effective-index model (Lecamp, Lalanne &amp; Hugonin, Phys. Rev. Lett. 99, 023902 (2007)). For this design's stack at 668 nm the solved mode has n_eff = 3.47 and a beta factor (fraction of the dot's spontaneous emission that couples into the guided mode) of 1.83%, sweeping to 1.9% across the acceptance-sweep grid; an uncoated facet then transmits 70% of the guided light out of the chip (Fresnel reflection at the semiconductor-air interface). Per Lemma 1 of docs/rt_edge_contract.md, none of this changes the intrinsic multiphoton probability -- it only sets how much of the light that is emitted is actually collected.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g2(0) is the only equation this deck states explicitly, and even it is explained rather than derived: it is the probability of detecting two photons at (almost) the same instant, normalized so that a classical, many-photon source gives 1 and a perfect single-photon emitter gives 0. The dashed curve on this slide is the published 300 K ceiling (no electrically or optically driven III-V dot has ever demonstrated g2(0) &lt; 0.5 at 300 K, docs/rt_edge_contract.md); the solid curve is this design's own best pulsed-drive corner from the acceptance sweep, g2 = 0.3648 -- better than the published ceiling, but only at the extreme corner of the swept range (narrowest linewidth, widest X-XX splitting) and only under pulsed, not continuous, drive.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g2_min=0.3648 g2_median=0.773 median_pass=false coverage=0 eligible=54/54 evidence=incomplete conditional=false</a:t>
            </a:r>
          </a:p>
          <a:p>
            <a:r>
              <a:t>The sweep was generated by scripts/run_rt_edge.py (2026-09-05T20:24:08.189904+00:00) over the full contract-declared grid (docs/rt_edge_contract.md): dot.delta_xx in [4.0, 7.0] meV, dot.gamma300 in [6.0, 20.0] meV, and the detector response (IRF) in [50, 200] ps, evaluated for both the primary (GaAsP-well) and fallback (GaInP-well) design cards, each under pulsed and continuous-wave drive. The envelope figure shown here (out/rt_edge/envelope.png) is the sweep's own output, not redrawn.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CARD: edge-inp-gaasp-design role=primary g2_pulsed_min=0.4117 g2_pulsed_median=0.8555 g2_cw_raw_min=0.9784 g2_cw_raw_median=0.9992 eligible=27/27 favorable_rows=0</a:t>
            </a:r>
          </a:p>
          <a:p>
            <a:r>
              <a:t>CARD: edge-inp-gainp-design role=fallback g2_pulsed_min=0.3648 g2_pulsed_median=0.7325 g2_cw_raw_min=0.8907 g2_cw_raw_median=0.9926 eligible=27/27 favorable_rows=0</a:t>
            </a:r>
          </a:p>
          <a:p/>
          <a:p>
            <a:r>
              <a:t>No published III-V quantum dot has demonstrated g2(0) &lt; 0.5 at 300 K under electrical driving; the best reported room-temperature values sit around 0.5-0.57 (docs/rt_edge_contract.md Evidence section; verify/data/rt_edge_anchors.yaml). This sweep's pooled pulsed g2_min=0.3648, g2_median=0.773 is reported against that ceiling, not as a claim of having exceeded it.</a:t>
            </a:r>
          </a:p>
          <a:p/>
          <a:p>
            <a:r>
              <a:t>Why pulsed and continuous drive disagree so sharply: at 300 K, thermally activated carrier escape from the dot happens on a picosecond timescale (fsim_core.dot_levels retention model, InP/(Al,Ga)InP activation energies from Bommer et al. 2011 and Schulz et al., physica status solidi (c) 6, 906 (2009)). Under continuous electrical drive this makes the antibunching dip itself narrower than any real single-photon detector's 50-200 ps timing response, so the measured (IRF-convolved) CW g2 stays near 1 even though the intrinsic CW g2 can be favourable -- see the g2_cw0 vs g2_cw0_raw columns of out/rt_edge/sweep.csv. Pulsed operation, which asks only about the photon statistics within one short injection pulse, is required to see any single-photon character at all in this design.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verify/verify_rt_edge_papers.py is a self-contained hallucination check: it re-derives every anchored literature claim from the shared evidence ledger (verify/data/rt_edge_anchors.yaml), confirms each has a real DOI or figure locator, checks units and plausible magnitude, and distinguishes raw-versus-background-corrected numbers (a documented failure mode where a paper's own raw, deconvolved and fully-corrected values could be swapped). It currently passes 14/16 checks. Two claims still lack the required second, independent verified source and are reported as incomplete rather than silently accepted: reischle2008_g2_80K (only 0 distinct verified primary source(s), need 2); hkust_inp_gaasp_wavelength (only 0 distinct verified primary source(s), need 2). For context, the 80 K claim's only source is Reischle et al., Optics Express 16, 12771 (2008), and the wavelength claim's only source is Gu et al., Optics Express 33, 23732 (2025).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fsim_gui/designer.py is a live GUI (Dear PyGui) over the identical fsim_core.device evaluator used by the acceptance sweep and by verify/verify_rt_edge_cards.py: moving a slider re-runs the full materials-to-g2 pipeline and redraws the results panel and g2(0) curve immediately, so a designer can explore the same trade-offs this deck reports interactively rather than only reading a static sweep. The screenshot on this slide (out/rt_edge/gui-smoke.png) is captured directly from a running instance of the tool via fsim_gui/designer.py --frames 10 --screenshot, not a mockup.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g2_min=0.3648 g2_median=0.773 median_pass=false coverage=0 eligible=54/54 evidence=incomplete conditional=false</a:t>
            </a:r>
          </a:p>
          <a:p>
            <a:r>
              <a:t>Fail reasons: evidence_incomplete, no_favorable_corner_metrics. The stop rule set at the start of this project (g2(0) &lt; 0.5 at 300 K, working electrical injection, in-plane out-coupling, every claim cross-checked against at least two independent papers, and all hallucination tests passing) is not met: no single row of the 54-point sweep clears the pulsed g2, CW intrinsic g2 and CW measured g2 gates simultaneously, and two evidence-ledger claims still rest on one source each. This is reported as a fail, not reframed as a conditional pass, because docs/rt_edge_contract.md makes evidence completeness and a same-row favourable corner both mandatory, and because no published III-V quantum dot -- at any drive scheme -- has demonstrated g2(0) &lt; 0.5 at 300 K under electrical driving.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would have to be true for a future revision to pass: (1) a measured, not class-proxy, 300 K single-dot linewidth for an InP/GaAsP or InP/GaInP dot, ideally near the 6 meV low end of today's assumed range; (2) a measured X-XX splitting nearer the 7 meV end of today's 4-7 meV range, or a design (e.g. piezoelectric growth, per Chatzarakis et al. 2023's InAs/GaAs result) that widens it further; (3) an independent second source for the 80 K electrical g2 anchor and for the InP/GaAsP emission-wavelength anchor, closing out/rt_edge/evidence.json's two open claims; and (4) because carrier escape at 300 K is faster than any detector's timing response, either a much faster single-photon detector or a design that slows thermal escape (a deeper confinement barrier) before continuous-wave operation could show any antibunching at all. None of these four are engineering details this simulator can resolve on its own -- they are measurements and material developments that have not yet been published.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qd-photon-sim</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Branch: rt-edge-emitter</a:t>
            </a:r>
          </a:p>
          <a:p>
            <a:pPr>
              <a:spcAft>
                <a:spcPts val="1000"/>
              </a:spcAft>
              <a:defRPr sz="2200">
                <a:solidFill>
                  <a:srgbClr val="1B1F24"/>
                </a:solidFill>
              </a:defRPr>
            </a:pPr>
            <a:r>
              <a:t>• A physics simulator that designs and checks a quantum-dot single-photon source</a:t>
            </a:r>
          </a:p>
          <a:p>
            <a:pPr>
              <a:spcAft>
                <a:spcPts val="1000"/>
              </a:spcAft>
              <a:defRPr sz="2200">
                <a:solidFill>
                  <a:srgbClr val="1B1F24"/>
                </a:solidFill>
              </a:defRPr>
            </a:pPr>
            <a:r>
              <a:t>• This deck reports what the simulator found, including where the design falls short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is a quantum dot?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speck of semiconductor a few nanometres across, grown inside a larger crystal</a:t>
            </a:r>
          </a:p>
          <a:p>
            <a:pPr>
              <a:spcAft>
                <a:spcPts val="1000"/>
              </a:spcAft>
              <a:defRPr sz="2200">
                <a:solidFill>
                  <a:srgbClr val="1B1F24"/>
                </a:solidFill>
              </a:defRPr>
            </a:pPr>
            <a:r>
              <a:t>• Electrons and holes get trapped inside it, like an atom -- an ‘artificial atom’</a:t>
            </a:r>
          </a:p>
          <a:p>
            <a:pPr>
              <a:spcAft>
                <a:spcPts val="1000"/>
              </a:spcAft>
              <a:defRPr sz="2200">
                <a:solidFill>
                  <a:srgbClr val="1B1F24"/>
                </a:solidFill>
              </a:defRPr>
            </a:pPr>
            <a:r>
              <a:t>• The trapped charges recombine and emit exactly one photon at a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one photon at a time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Quantum key distribution needs single photons -- extra photons can be intercepted and copied</a:t>
            </a:r>
          </a:p>
          <a:p>
            <a:pPr>
              <a:spcAft>
                <a:spcPts val="1000"/>
              </a:spcAft>
              <a:defRPr sz="2200">
                <a:solidFill>
                  <a:srgbClr val="1B1F24"/>
                </a:solidFill>
              </a:defRPr>
            </a:pPr>
            <a:r>
              <a:t>• One photon per pulse makes the resulting encryption key provably unforgeable</a:t>
            </a:r>
          </a:p>
          <a:p>
            <a:pPr>
              <a:spcAft>
                <a:spcPts val="1000"/>
              </a:spcAft>
              <a:defRPr sz="2200">
                <a:solidFill>
                  <a:srgbClr val="1B1F24"/>
                </a:solidFill>
              </a:defRPr>
            </a:pPr>
            <a:r>
              <a:t>• g2(0) measures this directly: 0 is perfect, 1 is an ordinary lamp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room temperature and electrical driving matter</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Every working single-photon quantum dot today needs a cryostat and a laser</a:t>
            </a:r>
          </a:p>
          <a:p>
            <a:pPr>
              <a:spcAft>
                <a:spcPts val="1000"/>
              </a:spcAft>
              <a:defRPr sz="2200">
                <a:solidFill>
                  <a:srgbClr val="1B1F24"/>
                </a:solidFill>
              </a:defRPr>
            </a:pPr>
            <a:r>
              <a:t>• A source that runs at 300 K on a simple diode current plugs in like an LED</a:t>
            </a:r>
          </a:p>
          <a:p>
            <a:pPr>
              <a:spcAft>
                <a:spcPts val="1000"/>
              </a:spcAft>
              <a:defRPr sz="2200">
                <a:solidFill>
                  <a:srgbClr val="1B1F24"/>
                </a:solidFill>
              </a:defRPr>
            </a:pPr>
            <a:r>
              <a:t>• That is the difference between a lab demonstration and a deployable device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edge (in-plane) emission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Most quantum-dot sources shine light straight up, out of the top of the chip</a:t>
            </a:r>
          </a:p>
          <a:p>
            <a:pPr>
              <a:spcAft>
                <a:spcPts val="1000"/>
              </a:spcAft>
              <a:defRPr sz="2200">
                <a:solidFill>
                  <a:srgbClr val="1B1F24"/>
                </a:solidFill>
              </a:defRPr>
            </a:pPr>
            <a:r>
              <a:t>• Edge emission sends photons sideways, directly into a waveguide or an optical fibre</a:t>
            </a:r>
          </a:p>
          <a:p>
            <a:pPr>
              <a:spcAft>
                <a:spcPts val="1000"/>
              </a:spcAft>
              <a:defRPr sz="2200">
                <a:solidFill>
                  <a:srgbClr val="1B1F24"/>
                </a:solidFill>
              </a:defRPr>
            </a:pPr>
            <a:r>
              <a:t>• That is how the light gets onto a photonic chip or into a communication 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this software does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physics calculator, not a lab measurement: predicts g2(0), brightness and the operating window of a design</a:t>
            </a:r>
          </a:p>
          <a:p>
            <a:pPr>
              <a:spcAft>
                <a:spcPts val="1000"/>
              </a:spcAft>
              <a:defRPr sz="2200">
                <a:solidFill>
                  <a:srgbClr val="1B1F24"/>
                </a:solidFill>
              </a:defRPr>
            </a:pPr>
            <a:r>
              <a:t>• Built from published material data, not fitted to make an answer come out right</a:t>
            </a:r>
          </a:p>
          <a:p>
            <a:pPr>
              <a:spcAft>
                <a:spcPts val="1000"/>
              </a:spcAft>
              <a:defRPr sz="2200">
                <a:solidFill>
                  <a:srgbClr val="1B1F24"/>
                </a:solidFill>
              </a:defRPr>
            </a:pPr>
            <a:r>
              <a:t>• It also checks its own literature citations for errors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How it works: the pipeline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Materials → dot levels → diode injection → heating → line overlap → filtering → waveguide → g2</a:t>
            </a:r>
          </a:p>
          <a:p>
            <a:pPr>
              <a:spcAft>
                <a:spcPts val="1000"/>
              </a:spcAft>
              <a:defRPr sz="2200">
                <a:solidFill>
                  <a:srgbClr val="1B1F24"/>
                </a:solidFill>
              </a:defRPr>
            </a:pPr>
            <a:r>
              <a:t>• Every step keeps a literature tag: verified, derived, class estimate, or assumption</a:t>
            </a:r>
          </a:p>
          <a:p>
            <a:pPr>
              <a:spcAft>
                <a:spcPts val="1000"/>
              </a:spcAft>
              <a:defRPr sz="2200">
                <a:solidFill>
                  <a:srgbClr val="1B1F24"/>
                </a:solidFill>
              </a:defRPr>
            </a:pPr>
            <a:r>
              <a:t>• Every conclusion is a range swept over the uncertain inputs, not one confident number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Anatomy of the artificial atom</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An InP dot inside a GaAs0.6P0.4 well traps one electron 97 meV deep and one hole 31 meV deep</a:t>
            </a:r>
          </a:p>
          <a:p>
            <a:pPr>
              <a:spcAft>
                <a:spcPts val="1000"/>
              </a:spcAft>
              <a:defRPr sz="1800">
                <a:solidFill>
                  <a:srgbClr val="1B1F24"/>
                </a:solidFill>
              </a:defRPr>
            </a:pPr>
            <a:r>
              <a:t>• Recombination of that trapped pair is the single photon, here at 816 nm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material swap: fixing an inverted design</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The literal 'InP cladding, GaAsP active' is backwards: InP has the smaller band gap</a:t>
            </a:r>
          </a:p>
          <a:p>
            <a:pPr>
              <a:spcAft>
                <a:spcPts val="1000"/>
              </a:spcAft>
              <a:defRPr sz="1800">
                <a:solidFill>
                  <a:srgbClr val="1B1F24"/>
                </a:solidFill>
              </a:defRPr>
            </a:pPr>
            <a:r>
              <a:t>• GaAsP is 5.3% lattice-mismatched to InP -- it cannot grow as a cladding</a:t>
            </a:r>
          </a:p>
          <a:p>
            <a:pPr>
              <a:spcAft>
                <a:spcPts val="1000"/>
              </a:spcAft>
              <a:defRPr sz="1800">
                <a:solidFill>
                  <a:srgbClr val="1B1F24"/>
                </a:solidFill>
              </a:defRPr>
            </a:pPr>
            <a:r>
              <a:t>• Instead: InP dots inside a GaAsP well, clad by (Al,Ga)InP -- what real labs grow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Turning on the light: the p-i-n diode</a:t>
            </a:r>
          </a:p>
        </p:txBody>
      </p:sp>
      <p:pic>
        <p:nvPicPr>
          <p:cNvPr id="3" name="Picture 2" descr="pin_diode.png"/>
          <p:cNvPicPr>
            <a:picLocks noChangeAspect="1"/>
          </p:cNvPicPr>
          <p:nvPr/>
        </p:nvPicPr>
        <p:blipFill>
          <a:blip r:embed="rId2"/>
          <a:stretch>
            <a:fillRect/>
          </a:stretch>
        </p:blipFill>
        <p:spPr>
          <a:xfrm>
            <a:off x="5699455" y="2351314"/>
            <a:ext cx="6035040" cy="3161211"/>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p-i-n diode: p-doped and n-doped layers around an intrinsic core</a:t>
            </a:r>
          </a:p>
          <a:p>
            <a:pPr>
              <a:spcAft>
                <a:spcPts val="1000"/>
              </a:spcAft>
              <a:defRPr sz="1800">
                <a:solidFill>
                  <a:srgbClr val="1B1F24"/>
                </a:solidFill>
              </a:defRPr>
            </a:pPr>
            <a:r>
              <a:t>• Electrons and holes are pushed in from opposite sides and meet at the dot</a:t>
            </a:r>
          </a:p>
          <a:p>
            <a:pPr>
              <a:spcAft>
                <a:spcPts val="1000"/>
              </a:spcAft>
              <a:defRPr sz="1800">
                <a:solidFill>
                  <a:srgbClr val="1B1F24"/>
                </a:solidFill>
              </a:defRPr>
            </a:pPr>
            <a:r>
              <a:t>• At this design's operating current the junction sits near 1.28 V forward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Two lines, one at a time: exciton and biexciton</a:t>
            </a:r>
          </a:p>
        </p:txBody>
      </p:sp>
      <p:pic>
        <p:nvPicPr>
          <p:cNvPr id="3" name="Picture 2" descr="spectral_overlap.png"/>
          <p:cNvPicPr>
            <a:picLocks noChangeAspect="1"/>
          </p:cNvPicPr>
          <p:nvPr/>
        </p:nvPicPr>
        <p:blipFill>
          <a:blip r:embed="rId2"/>
          <a:stretch>
            <a:fillRect/>
          </a:stretch>
        </p:blipFill>
        <p:spPr>
          <a:xfrm>
            <a:off x="5699455" y="2611755"/>
            <a:ext cx="6035040" cy="264033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One trapped pair (exciton, X) and two trapped pairs (biexciton, XX) emit at slightly different colours</a:t>
            </a:r>
          </a:p>
          <a:p>
            <a:pPr>
              <a:spcAft>
                <a:spcPts val="1000"/>
              </a:spcAft>
              <a:defRPr sz="1800">
                <a:solidFill>
                  <a:srgbClr val="1B1F24"/>
                </a:solidFill>
              </a:defRPr>
            </a:pPr>
            <a:r>
              <a:t>• At 4 K the two lines are razor-sharp and clearly separate</a:t>
            </a:r>
          </a:p>
          <a:p>
            <a:pPr>
              <a:spcAft>
                <a:spcPts val="1000"/>
              </a:spcAft>
              <a:defRPr sz="1800">
                <a:solidFill>
                  <a:srgbClr val="1B1F24"/>
                </a:solidFill>
              </a:defRPr>
            </a:pPr>
            <a:r>
              <a:t>• At 300 K thermal broadening (6-20 meV) swallows the 3-7 meV gap between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Getting light out: the edge waveguide</a:t>
            </a:r>
          </a:p>
        </p:txBody>
      </p:sp>
      <p:pic>
        <p:nvPicPr>
          <p:cNvPr id="3" name="Picture 2" descr="waveguide_mode.png"/>
          <p:cNvPicPr>
            <a:picLocks noChangeAspect="1"/>
          </p:cNvPicPr>
          <p:nvPr/>
        </p:nvPicPr>
        <p:blipFill>
          <a:blip r:embed="rId2"/>
          <a:stretch>
            <a:fillRect/>
          </a:stretch>
        </p:blipFill>
        <p:spPr>
          <a:xfrm>
            <a:off x="5699455" y="2317897"/>
            <a:ext cx="6035040" cy="3228045"/>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ridge waveguide guides light sideways, to the chip edge, not straight up</a:t>
            </a:r>
          </a:p>
          <a:p>
            <a:pPr>
              <a:spcAft>
                <a:spcPts val="1000"/>
              </a:spcAft>
              <a:defRPr sz="1800">
                <a:solidFill>
                  <a:srgbClr val="1B1F24"/>
                </a:solidFill>
              </a:defRPr>
            </a:pPr>
            <a:r>
              <a:t>• This design's mode captures about 1.8-1.9% of the dot's light (beta)</a:t>
            </a:r>
          </a:p>
          <a:p>
            <a:pPr>
              <a:spcAft>
                <a:spcPts val="1000"/>
              </a:spcAft>
              <a:defRPr sz="1800">
                <a:solidFill>
                  <a:srgbClr val="1B1F24"/>
                </a:solidFill>
              </a:defRPr>
            </a:pPr>
            <a:r>
              <a:t>• An uncoated facet lets about 70% of that light escape the chip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g2(0): the number that matters</a:t>
            </a:r>
          </a:p>
        </p:txBody>
      </p:sp>
      <p:pic>
        <p:nvPicPr>
          <p:cNvPr id="3" name="Picture 2" descr="g2_di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g2(0): how often two photons arrive together. 0 = perfect single photon, 1 = ordinary lamp</a:t>
            </a:r>
          </a:p>
          <a:p>
            <a:pPr>
              <a:spcAft>
                <a:spcPts val="1000"/>
              </a:spcAft>
              <a:defRPr sz="1800">
                <a:solidFill>
                  <a:srgbClr val="1B1F24"/>
                </a:solidFill>
              </a:defRPr>
            </a:pPr>
            <a:r>
              <a:t>• 0.5 is the usual single-photon threshold</a:t>
            </a:r>
          </a:p>
          <a:p>
            <a:pPr>
              <a:spcAft>
                <a:spcPts val="1000"/>
              </a:spcAft>
              <a:defRPr sz="1800">
                <a:solidFill>
                  <a:srgbClr val="1B1F24"/>
                </a:solidFill>
              </a:defRPr>
            </a:pPr>
            <a:r>
              <a:t>• This design's best pulsed corner reaches 0.3648, only at the narrow-line, wide-splitting extreme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Results: the room-temperature acceptance sweep</a:t>
            </a:r>
          </a:p>
        </p:txBody>
      </p:sp>
      <p:pic>
        <p:nvPicPr>
          <p:cNvPr id="3" name="Picture 2" descr="envelope.png"/>
          <p:cNvPicPr>
            <a:picLocks noChangeAspect="1"/>
          </p:cNvPicPr>
          <p:nvPr/>
        </p:nvPicPr>
        <p:blipFill>
          <a:blip r:embed="rId2"/>
          <a:stretch>
            <a:fillRect/>
          </a:stretch>
        </p:blipFill>
        <p:spPr>
          <a:xfrm>
            <a:off x="5699455" y="2670048"/>
            <a:ext cx="6035040" cy="2523744"/>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Sweep: 54 evaluated configurations, spanning the dot's linewidth, its X-XX splitting, and the detector response time</a:t>
            </a:r>
          </a:p>
          <a:p>
            <a:pPr>
              <a:spcAft>
                <a:spcPts val="1000"/>
              </a:spcAft>
              <a:defRPr sz="1800">
                <a:solidFill>
                  <a:srgbClr val="1B1F24"/>
                </a:solidFill>
              </a:defRPr>
            </a:pPr>
            <a:r>
              <a:t>• Every corner is checked against three gates at once: pulsed g2, CW intrinsic g2, CW measured g2</a:t>
            </a:r>
          </a:p>
        </p:txBody>
      </p:sp>
      <p:sp>
        <p:nvSpPr>
          <p:cNvPr id="5" name="TextBox 4"/>
          <p:cNvSpPr txBox="1"/>
          <p:nvPr/>
        </p:nvSpPr>
        <p:spPr>
          <a:xfrm>
            <a:off x="548640" y="5806440"/>
            <a:ext cx="5212080" cy="777240"/>
          </a:xfrm>
          <a:prstGeom prst="rect">
            <a:avLst/>
          </a:prstGeom>
          <a:noFill/>
        </p:spPr>
        <p:txBody>
          <a:bodyPr wrap="square">
            <a:spAutoFit/>
          </a:bodyPr>
          <a:lstStyle/>
          <a:p>
            <a:r>
              <a:rPr sz="1300">
                <a:solidFill>
                  <a:srgbClr val="57606A"/>
                </a:solidFill>
                <a:latin typeface="Consolas"/>
              </a:rPr>
              <a:t>VERDICT: FAIL g2_min=0.3648 g2_median=0.773 median_pass=false coverage=0 eligible=54/54 evidence=incomplete conditional=false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Results in detail: pulsed vs continuous drive</a:t>
            </a:r>
          </a:p>
        </p:txBody>
      </p:sp>
      <p:pic>
        <p:nvPicPr>
          <p:cNvPr id="3" name="Picture 2" descr="envelope.png"/>
          <p:cNvPicPr>
            <a:picLocks noChangeAspect="1"/>
          </p:cNvPicPr>
          <p:nvPr/>
        </p:nvPicPr>
        <p:blipFill>
          <a:blip r:embed="rId2"/>
          <a:stretch>
            <a:fillRect/>
          </a:stretch>
        </p:blipFill>
        <p:spPr>
          <a:xfrm>
            <a:off x="5699455" y="2670048"/>
            <a:ext cx="6035040" cy="2523744"/>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Pulsed drive can beat the literature ceiling at one extreme corner; continuous drive never does</a:t>
            </a:r>
          </a:p>
          <a:p>
            <a:pPr>
              <a:spcAft>
                <a:spcPts val="1000"/>
              </a:spcAft>
              <a:defRPr sz="1800">
                <a:solidFill>
                  <a:srgbClr val="1B1F24"/>
                </a:solidFill>
              </a:defRPr>
            </a:pPr>
            <a:r>
              <a:t>• Carriers escape the dot in picoseconds at 300 K -- faster than any real detector can resolve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Checking the numbers against the literature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Every literature number is tagged: verified, derived, class estimate, or assumption</a:t>
            </a:r>
          </a:p>
          <a:p>
            <a:pPr>
              <a:spcAft>
                <a:spcPts val="1000"/>
              </a:spcAft>
              <a:defRPr sz="2200">
                <a:solidFill>
                  <a:srgbClr val="1B1F24"/>
                </a:solidFill>
              </a:defRPr>
            </a:pPr>
            <a:r>
              <a:t>• An automatic check confirms every citation is real, in range and in context (14/16 checks passed)</a:t>
            </a:r>
          </a:p>
          <a:p>
            <a:pPr>
              <a:spcAft>
                <a:spcPts val="1000"/>
              </a:spcAft>
              <a:defRPr sz="2200">
                <a:solidFill>
                  <a:srgbClr val="1B1F24"/>
                </a:solidFill>
              </a:defRPr>
            </a:pPr>
            <a:r>
              <a:t>• Two claims still have only one independent source and are honestly marked incomplete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design GUI</a:t>
            </a:r>
          </a:p>
        </p:txBody>
      </p:sp>
      <p:pic>
        <p:nvPicPr>
          <p:cNvPr id="3" name="Picture 2" descr="gui-smoke.png"/>
          <p:cNvPicPr>
            <a:picLocks noChangeAspect="1"/>
          </p:cNvPicPr>
          <p:nvPr/>
        </p:nvPicPr>
        <p:blipFill>
          <a:blip r:embed="rId2"/>
          <a:stretch>
            <a:fillRect/>
          </a:stretch>
        </p:blipFill>
        <p:spPr>
          <a:xfrm>
            <a:off x="5699455" y="2485356"/>
            <a:ext cx="6035040" cy="2893128"/>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Engineers explore designs interactively -- sliders for the dot, the drive, the waveguide</a:t>
            </a:r>
          </a:p>
          <a:p>
            <a:pPr>
              <a:spcAft>
                <a:spcPts val="1000"/>
              </a:spcAft>
              <a:defRPr sz="1800">
                <a:solidFill>
                  <a:srgbClr val="1B1F24"/>
                </a:solidFill>
              </a:defRPr>
            </a:pPr>
            <a:r>
              <a:t>• The same evaluate() pipeline runs live behind the GUI as behind this sweep</a:t>
            </a:r>
          </a:p>
          <a:p>
            <a:pPr>
              <a:spcAft>
                <a:spcPts val="1000"/>
              </a:spcAft>
              <a:defRPr sz="1800">
                <a:solidFill>
                  <a:srgbClr val="1B1F24"/>
                </a:solidFill>
              </a:defRPr>
            </a:pPr>
            <a:r>
              <a:t>• This screenshot is a real render of the running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honest verdict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This design does not pass the room-temperature stop rule</a:t>
            </a:r>
          </a:p>
          <a:p>
            <a:pPr>
              <a:spcAft>
                <a:spcPts val="1000"/>
              </a:spcAft>
              <a:defRPr sz="2200">
                <a:solidFill>
                  <a:srgbClr val="1B1F24"/>
                </a:solidFill>
              </a:defRPr>
            </a:pPr>
            <a:r>
              <a:t>• Fail reasons: no corner clears all three gates together; two literature claims are still single-sourced</a:t>
            </a:r>
          </a:p>
          <a:p>
            <a:pPr>
              <a:spcAft>
                <a:spcPts val="1000"/>
              </a:spcAft>
              <a:defRPr sz="2200">
                <a:solidFill>
                  <a:srgbClr val="1B1F24"/>
                </a:solidFill>
              </a:defRPr>
            </a:pPr>
            <a:r>
              <a:t>• No published dot has broken the g2 ≈ 0.5, 300 K ceiling -- electrical or optical</a:t>
            </a:r>
          </a:p>
        </p:txBody>
      </p:sp>
      <p:sp>
        <p:nvSpPr>
          <p:cNvPr id="4" name="TextBox 3"/>
          <p:cNvSpPr txBox="1"/>
          <p:nvPr/>
        </p:nvSpPr>
        <p:spPr>
          <a:xfrm>
            <a:off x="731520" y="3703320"/>
            <a:ext cx="10728655" cy="777240"/>
          </a:xfrm>
          <a:prstGeom prst="rect">
            <a:avLst/>
          </a:prstGeom>
          <a:noFill/>
        </p:spPr>
        <p:txBody>
          <a:bodyPr wrap="square">
            <a:spAutoFit/>
          </a:bodyPr>
          <a:lstStyle/>
          <a:p>
            <a:r>
              <a:rPr sz="1300">
                <a:solidFill>
                  <a:srgbClr val="57606A"/>
                </a:solidFill>
                <a:latin typeface="Consolas"/>
              </a:rPr>
              <a:t>VERDICT: FAIL g2_min=0.3648 g2_median=0.773 median_pass=false coverage=0 eligible=54/54 evidence=incomplete conditional=false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Limitations and what would have to change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narrower 300 K linewidth or a larger X-XX splitting would help most (out/rt_edge/gui-smoke.png.txt)</a:t>
            </a:r>
          </a:p>
          <a:p>
            <a:pPr>
              <a:spcAft>
                <a:spcPts val="1000"/>
              </a:spcAft>
              <a:defRPr sz="2200">
                <a:solidFill>
                  <a:srgbClr val="1B1F24"/>
                </a:solidFill>
              </a:defRPr>
            </a:pPr>
            <a:r>
              <a:t>• No InP/GaAsP single-dot measurement exists yet; today's linewidth and splitting are class proxies</a:t>
            </a:r>
          </a:p>
          <a:p>
            <a:pPr>
              <a:spcAft>
                <a:spcPts val="1000"/>
              </a:spcAft>
              <a:defRPr sz="2200">
                <a:solidFill>
                  <a:srgbClr val="1B1F24"/>
                </a:solidFill>
              </a:defRPr>
            </a:pPr>
            <a:r>
              <a:t>• A second independent source would close the evidence gate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